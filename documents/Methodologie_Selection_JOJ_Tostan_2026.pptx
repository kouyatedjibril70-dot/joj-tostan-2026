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7315200" cy="73152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E8871E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30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JO'TALI  ×  TOSTAN 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de sélection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communautés pilotes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300 communautés ont été choisies, dans 3 zones du Sénégal,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porter l'esprit des Jeux Olympiques de la Jeunesse — Dakar 2026.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715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71800" y="5715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971800" y="6263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0" y="5715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91 219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303520" y="6263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15-35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sélectionner des communautés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derrière la démarche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Jeux Olympiques de la Jeunesse arrivent à Dakar en 2026. Mais beaucoup de jeunes, dans les zones rurales du Sénégal, risquent de vivre cet événement de loin — depuis leur village, sans y participer directement.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JO'TALI × Tostan propose de ramener l'esprit des Jeux directement dans les communautés : sport, dialogue et leadership, là où vivent les jeunes. La première étape de ce projet est de choisir, avec rigueur, les communautés qui en bénéficieront en premier.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75120" y="16002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03720" y="1847088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4" y="1947672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764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territorial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0" y="21305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S'appuyer sur les zones où Tostan est déjà présent via le programme PRCC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75120" y="3227832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03720" y="34747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35753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3392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Bassin de jeunes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89520" y="37581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communautés avec une population de jeunes suffisante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75120" y="4855464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03720" y="5102352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520293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0" y="5020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du lien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589520" y="538581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 sur les relais et facilitateurs déjà formés sur le terrain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zones, six régions d'origine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regroupement pensé pour la gestion opérationnelle du projet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 : les six régions où Tostan a récemment mis en œuvre le programme PRCC (Tambacounda, Matam, Kolda, Sédhiou, Kédougou et Saint-Louis). Pour simplifier la gestion, elles ont été regroupées en 3 zones opérationnelles.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514600"/>
            <a:ext cx="356616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Kolda &amp; Sédhiou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31 551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7744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15-35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3017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46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Kolda dispose seule d'assez de communautés de qualité pour porter la zone ; Sédhiou y est associée.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5146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2514600"/>
            <a:ext cx="356616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Tambacounda &amp; Kédougou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772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1772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7 388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15-35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4709160"/>
            <a:ext cx="3017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846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voisines regroupées pour équilibrer les volumes entre les 3 zones.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25146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2514600"/>
            <a:ext cx="3566160" cy="10972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Matam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1248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841248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6696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52 280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96696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15-35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12480" y="4709160"/>
            <a:ext cx="3017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4846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Matam porte la zone seule, avec les communautés PRCC récentes de Saint-Louis intégrées pour équilibre.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priorité absolue : le lien Tostan déjà actif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chaque zone, les communautés où le programme PRCC est encore en cours sont retenues en premier — avant tout calcul de score. Pourquoi ? Parce qu'elles bénéficient déjà de superviseurs et de facilitateurs actifs sur le terrain, ce qui permet un démarrage rapide du projet JO'TALI sans délai de mise en place.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558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3375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communautés en PRCC EN COURS, toutes situées à Kolda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02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931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Regroupées avec Sédhiou pour former la Zone 1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4456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4526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communautés PRCC en cours supplémentaires à Saint-Louis, intégrées à la Zone 3 (Matam) pour un meilleur équilibre opérationnel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406640" y="13716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2D6A4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73736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89520" y="2423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7200" dirty="0"/>
          </a:p>
        </p:txBody>
      </p:sp>
      <p:sp>
        <p:nvSpPr>
          <p:cNvPr id="13" name="Text 7"/>
          <p:cNvSpPr/>
          <p:nvPr/>
        </p:nvSpPr>
        <p:spPr>
          <a:xfrm>
            <a:off x="758952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 PRCC EN COURS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récentes intégrées en priorité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818120" y="4572000"/>
            <a:ext cx="320040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589520" y="4709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300 communautés sélectionnées au total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le reste : une note sur 100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les communautés PRCC en cours retenues, les places restantes sont attribuées selon 4 critères pondérés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PRCC récent ou en cours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Tostan le plus frais possible avec la communauté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2075688"/>
            <a:ext cx="32918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2075688"/>
            <a:ext cx="3291840" cy="14630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0" y="1892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53512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28895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jeunes 15-35 ans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0020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 bassin de participants suffisant sur place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3154680"/>
            <a:ext cx="32918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3154680"/>
            <a:ext cx="2821577" cy="146304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032504"/>
            <a:ext cx="548640" cy="54864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39684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 Tostan proches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600200" y="4325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la logistique et les rencontres entre jeunes voisins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4233672"/>
            <a:ext cx="32918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4233672"/>
            <a:ext cx="1881051" cy="1463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0" y="4050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92861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111496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00200" y="5047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programmes actifs (RPP, P&amp;S)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600200" y="54041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Bénéficier d'un accompagnement Tostan renforcé sur le terrain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5312664"/>
            <a:ext cx="32918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6640" y="5312664"/>
            <a:ext cx="1410789" cy="1463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0" y="5129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100 points  —  les places restantes de chaque zone sont attribuées par ordre de score décroissant, jusqu'à atteindre le quota fixé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résultat de la sélection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D6A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691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 SÉLECTIONNÉES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3756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D6A4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6916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91 219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347472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15-35 ANS ESTIMÉS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D6A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6916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62636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 EN PRIORITÉ PRCC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91540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D6A4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16916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15400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/ 100</a:t>
            </a:r>
            <a:endParaRPr lang="en-US" sz="2500" dirty="0"/>
          </a:p>
        </p:txBody>
      </p:sp>
      <p:sp>
        <p:nvSpPr>
          <p:cNvPr id="18" name="Text 12"/>
          <p:cNvSpPr/>
          <p:nvPr/>
        </p:nvSpPr>
        <p:spPr>
          <a:xfrm>
            <a:off x="905256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MOYEN DE SÉLECTION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région d'origine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" y="4572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Kolda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103120" y="4608576"/>
            <a:ext cx="4572000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Shape 16"/>
          <p:cNvSpPr/>
          <p:nvPr/>
        </p:nvSpPr>
        <p:spPr>
          <a:xfrm>
            <a:off x="2103120" y="4608576"/>
            <a:ext cx="457200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17"/>
          <p:cNvSpPr/>
          <p:nvPr/>
        </p:nvSpPr>
        <p:spPr>
          <a:xfrm>
            <a:off x="6812280" y="4572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956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Matam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103120" y="4992624"/>
            <a:ext cx="4572000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Shape 20"/>
          <p:cNvSpPr/>
          <p:nvPr/>
        </p:nvSpPr>
        <p:spPr>
          <a:xfrm>
            <a:off x="2103120" y="4992624"/>
            <a:ext cx="4572000" cy="20116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1"/>
          <p:cNvSpPr/>
          <p:nvPr/>
        </p:nvSpPr>
        <p:spPr>
          <a:xfrm>
            <a:off x="6812280" y="4956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Sédhiou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103120" y="5376672"/>
            <a:ext cx="4572000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0" name="Shape 24"/>
          <p:cNvSpPr/>
          <p:nvPr/>
        </p:nvSpPr>
        <p:spPr>
          <a:xfrm>
            <a:off x="2103120" y="5376672"/>
            <a:ext cx="187452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5"/>
          <p:cNvSpPr/>
          <p:nvPr/>
        </p:nvSpPr>
        <p:spPr>
          <a:xfrm>
            <a:off x="6812280" y="53400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48640" y="57241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Tambacounda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2103120" y="5760720"/>
            <a:ext cx="4572000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4" name="Shape 28"/>
          <p:cNvSpPr/>
          <p:nvPr/>
        </p:nvSpPr>
        <p:spPr>
          <a:xfrm>
            <a:off x="2103120" y="5760720"/>
            <a:ext cx="187452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5" name="Text 29"/>
          <p:cNvSpPr/>
          <p:nvPr/>
        </p:nvSpPr>
        <p:spPr>
          <a:xfrm>
            <a:off x="6812280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8640" y="6108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Kédougou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2103120" y="6144768"/>
            <a:ext cx="4572000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8" name="Shape 32"/>
          <p:cNvSpPr/>
          <p:nvPr/>
        </p:nvSpPr>
        <p:spPr>
          <a:xfrm>
            <a:off x="2103120" y="6144768"/>
            <a:ext cx="82296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9" name="Text 33"/>
          <p:cNvSpPr/>
          <p:nvPr/>
        </p:nvSpPr>
        <p:spPr>
          <a:xfrm>
            <a:off x="6812280" y="61081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863840" y="411480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E8871E"/>
          </a:solidFill>
          <a:ln/>
        </p:spPr>
      </p:sp>
      <p:sp>
        <p:nvSpPr>
          <p:cNvPr id="41" name="Text 35"/>
          <p:cNvSpPr/>
          <p:nvPr/>
        </p:nvSpPr>
        <p:spPr>
          <a:xfrm>
            <a:off x="8183880" y="4370832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validation finale revient aux coordinations zonales, qui confirment la disponibilité des relais et ajustent si besoin selon les réalités de terrain. 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928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325880" y="2075688"/>
            <a:ext cx="1965960" cy="0"/>
          </a:xfrm>
          <a:prstGeom prst="line">
            <a:avLst/>
          </a:prstGeom>
          <a:noFill/>
          <a:ln w="19050">
            <a:solidFill>
              <a:srgbClr val="C8D8CE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41148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zonale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la disponibilité des relais et facilitateurs dans chaque communauté retenue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9280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5876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069080" y="2075688"/>
            <a:ext cx="1965960" cy="0"/>
          </a:xfrm>
          <a:prstGeom prst="line">
            <a:avLst/>
          </a:prstGeom>
          <a:noFill/>
          <a:ln w="19050">
            <a:solidFill>
              <a:srgbClr val="C8D8CE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15468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terrain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15468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la liste selon les réalités locales remontées par les coordinations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9280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0196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12280" y="2075688"/>
            <a:ext cx="1965960" cy="0"/>
          </a:xfrm>
          <a:prstGeom prst="line">
            <a:avLst/>
          </a:prstGeom>
          <a:noFill/>
          <a:ln w="19050">
            <a:solidFill>
              <a:srgbClr val="C8D8CE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589788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logistique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89788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les tournées et regroupements pour les premières activités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78240" y="169164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1892808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64108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JO'TALI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64108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les activités sportives et de dialogue dans les communautés validées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55321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Un héritage n'est pas ce qui reste après les Jeux. C'est ce que les Jeux rendent possible. »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Méthodologie de sélection des communautés — JOJ × Tostan 2026</dc:title>
  <dc:subject>PptxGenJS Presentation</dc:subject>
  <dc:creator>Tostan — JO'TALI</dc:creator>
  <cp:lastModifiedBy>Tostan — JO'TALI</cp:lastModifiedBy>
  <cp:revision>1</cp:revision>
  <dcterms:created xsi:type="dcterms:W3CDTF">2026-06-30T16:53:02Z</dcterms:created>
  <dcterms:modified xsi:type="dcterms:W3CDTF">2026-06-30T16:53:02Z</dcterms:modified>
</cp:coreProperties>
</file>